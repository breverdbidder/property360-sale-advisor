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097280"/>
            <a:ext cx="8534095" cy="36576"/>
          </a:xfrm>
          <a:prstGeom prst="rect">
            <a:avLst/>
          </a:prstGeom>
          <a:solidFill>
            <a:srgbClr val="C59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Palm Bay Palms Apartments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9A2C"/>
                </a:solidFill>
                <a:latin typeface="Calibri"/>
              </a:defRPr>
            </a:pPr>
            <a:r>
              <a:t>18-Unit Value-Add Multifamily Investment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$1,950,000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931920"/>
            <a:ext cx="4876495" cy="36576"/>
          </a:xfrm>
          <a:prstGeom prst="rect">
            <a:avLst/>
          </a:prstGeom>
          <a:solidFill>
            <a:srgbClr val="C59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20624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Palm Bay, Florida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9D9D9"/>
                </a:solidFill>
                <a:latin typeface="Calibri"/>
              </a:defRPr>
            </a:pPr>
            <a:r>
              <a:t>Presented by Property360 Real Estate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Investment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2 / 10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08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Below-market rents with $3,800/month ($45,600/yr) upside through lease renewals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60320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06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Manageable CapEx profile — $87,300 total, with only $16,000 immediate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Strong Space Coast demographics — population growth, employment diversification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75487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80059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1031 Exchange eligible — clean title, single LLC ownership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Property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3 /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</a:tblGrid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2750 Malabar Road SE, Palm Bay, FL 32907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Property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Multi-family (18 units)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Year Built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Total 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37160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</a:tblGrid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Lot Size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 acres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Zoning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RM-13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Flood Zone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 (minimal risk)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Parking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Surface lot, 36 spaces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9D9D9"/>
                </a:solidFill>
                <a:latin typeface="Calibri"/>
              </a:defRPr>
            </a:pPr>
            <a:r>
              <a:t>Owner: Sunshine Palms Holdings LLC  |  Acquired: 2018-03-15  |  Purchase Price: $1,450,000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Unit Mix &amp; Rent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4 /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9509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14400"/>
                <a:gridCol w="1097280"/>
                <a:gridCol w="2194560"/>
                <a:gridCol w="1828800"/>
                <a:gridCol w="201168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SF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Avg Rent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Market Rent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Upside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1BR/1BA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$1,050*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$1,200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$1,950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2BR/1BA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$1,321*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$1,450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$2,350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3BR/2BA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$1,750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$4,800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D9D9"/>
                </a:solidFill>
                <a:latin typeface="Calibri"/>
              </a:defRPr>
            </a:pPr>
            <a:r>
              <a:t>*Average of occupied units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Financial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5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18288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3A5F"/>
                </a:solidFill>
                <a:latin typeface="Calibri"/>
              </a:defRPr>
            </a:pPr>
            <a:r>
              <a:t>Trailing 12 NOI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$134,250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9D9"/>
                </a:solidFill>
                <a:latin typeface="Calibri"/>
              </a:defRPr>
            </a:pPr>
            <a:r>
              <a:t>Cap Rate: 6.88%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474720" cy="18288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3A5F"/>
                </a:solidFill>
                <a:latin typeface="Calibri"/>
              </a:defRPr>
            </a:pPr>
            <a:r>
              <a:t>Pro Forma NOI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$174,021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9D9"/>
                </a:solidFill>
                <a:latin typeface="Calibri"/>
              </a:defRPr>
            </a:pPr>
            <a:r>
              <a:t>Cap Rate: 8.92%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3A5F"/>
                </a:solidFill>
                <a:latin typeface="Calibri"/>
              </a:defRPr>
            </a:pPr>
            <a:r>
              <a:t>Total Revenue (T12)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920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$258,000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57600"/>
            <a:ext cx="3474720" cy="18288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3A5F"/>
                </a:solidFill>
                <a:latin typeface="Calibri"/>
              </a:defRPr>
            </a:pPr>
            <a:r>
              <a:t>Expense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48.0% (T12)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46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9D9"/>
                </a:solidFill>
                <a:latin typeface="Calibri"/>
              </a:defRPr>
            </a:pPr>
            <a:r>
              <a:t>→ 40.6% (stabilized)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657600"/>
            <a:ext cx="3474720" cy="18288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3A5F"/>
                </a:solidFill>
                <a:latin typeface="Calibri"/>
              </a:defRPr>
            </a:pPr>
            <a:r>
              <a:t>Cash Flow After 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$60,450/yr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657600"/>
            <a:ext cx="3474720" cy="18288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3A5F"/>
                </a:solidFill>
                <a:latin typeface="Calibri"/>
              </a:defRPr>
            </a:pPr>
            <a:r>
              <a:t>Annual Debt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$73,800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463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9D9"/>
                </a:solidFill>
                <a:latin typeface="Calibri"/>
              </a:defRPr>
            </a:pPr>
            <a:r>
              <a:t>Mortgage Rate: 4.75%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Market Rent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6 /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011680"/>
                <a:gridCol w="2011680"/>
                <a:gridCol w="256032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 Type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Avg Rent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Market Rent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Upside/Unit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Upside/Month (All)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1BR/1BA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$1,200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$750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2BR/1BA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$1,321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$1,450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$129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$900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3BR/2BA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$1,750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Calibri"/>
              </a:defRPr>
            </a:pPr>
            <a:r>
              <a:t>Market Context: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Palm Bay 2BR market average: $1,400 - $1,500/month (per CoStar, Zillow, and Apartments.com data)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Subject property's below-market units present significant rent upside upon lease expiration or renewal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Recent renovated comps in the area achieving $1,450 - $1,550 for 2BR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Capital Expenditure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7 /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37160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1828800"/>
                <a:gridCol w="2743200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Timeline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Roof replacement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3-5 years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HVAC (3 units)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$13,500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Immediate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Water heaters (6)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$4,800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1-2 years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Stucco repair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$8,000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 year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Unit turns (2)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Before listing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Parking lot reseal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$6,000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 year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$87,300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Palm Bay, FL — Market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002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~125,000 (10% growth 2020-2025)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Median Household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~$55,000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83280"/>
            <a:ext cx="1106424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Major Employers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204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L3Harris Technologies, Northrop Grumman, Health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Location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805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Florida's Space Coast, 70 miles east of Orlando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406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Brevard County Vacancy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~5%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3-Year Pro Forma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D9D9"/>
                </a:solidFill>
                <a:latin typeface="Calibri"/>
              </a:defRPr>
            </a:pPr>
            <a:r>
              <a:t>Assumptions: 3% annual rent growth  |  2% annual expense growth  |  Vacancy: 11.1% (Y1) → 7% (Y2) → 5% (Y3)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377440"/>
                <a:gridCol w="2377440"/>
                <a:gridCol w="237744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1 (T12)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Gross Potential Rent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$282,000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$290,460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$299,174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Less: Vacancy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$(31,200)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$(20,332)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$(14,959)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Revenue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$258,000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$277,544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$291,854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Expenses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$(123,750)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$(127,376)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$(130,624)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Net Operating Income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$134,250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$150,168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$161,230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Cash Flow After DS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$60,450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$76,368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3A5F"/>
                          </a:solidFill>
                          <a:latin typeface="Calibri"/>
                        </a:defRPr>
                      </a:pPr>
                      <a:r>
                        <a:t>$87,430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Transaction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9D9D9"/>
                </a:solidFill>
                <a:latin typeface="Calibri"/>
              </a:defRPr>
            </a:pPr>
            <a:r>
              <a:t>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1832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Asking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$1,950,000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148840"/>
            <a:ext cx="94183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Price Per Unit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40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$108,333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926080"/>
            <a:ext cx="941832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017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Earnest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$50,000 (hard after 15-day inspection)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703320"/>
            <a:ext cx="94183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Inspection 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794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15 business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480560"/>
            <a:ext cx="941832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4572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Financing Contingency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30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5349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Target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349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45 days from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6492240"/>
            <a:ext cx="7589520" cy="9144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0" y="658368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59A2C"/>
                </a:solidFill>
                <a:latin typeface="Calibri"/>
              </a:defRPr>
            </a:pPr>
            <a:r>
              <a:t>Contact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690372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Mariam Shapira  |  Property360 Real Estate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