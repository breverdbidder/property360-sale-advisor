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BAY PALMS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18-UNIT VALUE-ADD MULTIFAMILY OPPORTUNITY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$1,950,000  |  Palm Bay, Florida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 MEMORANDUM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Exclusively Marketed by Property360 Real Estate | Mariam Shapira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Below-Market Rents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rents 8-15% below market across all unit types. Immediate upside of $16,800/yr through lease renewals at market rates.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Demographics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Bay population 124K+, median HH income growing 4.2% YoY. Brevard County unemployment below state average.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Value-Add CapEx Identified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$87,300 CapEx budget with prioritized timeline. 3 HVAC replacements and 2 unit turns drive immediate NOI improvement.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57200" cy="4572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 Exchange Eligible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title, single-entity ownership, no HOA restrictions. Ideal for tax-deferred exchange with 45-day closing timeline.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2750 Malabar Road SE, Palm Bay, FL 32907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Multi-Family (18 Units, 2 Buildings)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 Size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Acres (52,272 SF)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14,400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RM-13 (Residential Multifamily)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Flood Zone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(Minimal Risk)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Spaces (2 per Unit)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005840"/>
            <a:ext cx="3840480" cy="3474720"/>
          </a:xfrm>
          <a:prstGeom prst="rect">
            <a:avLst>
              <a:gd name="adj" fmla="val 2632"/>
            </a:avLst>
          </a:prstGeom>
          <a:solidFill>
            <a:srgbClr val="F5F7F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DETAILS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1: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101-208 (14 units)
Concrete block, stucco exterior
Architectural shingle roof (2014)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2: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301-304 (4 units)
Concrete block, stucco exterior
Minor stucco cracking (cosmetic)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Areas: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Laundry facility, 36-space parking lot, landscaped grounds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MIX &amp; RENT ANALYSIS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SF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Rent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Market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Upside/Unit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1BR/1BA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$1,050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$1,200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$150/mo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2BR/1BA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$1,306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$1,450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$144/mo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3BR/2BA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1,100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$1,625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$1,750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$125/mo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$1,306 avg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$1,408 avg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$16,800/yr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SF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Rent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Market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Upside/Unit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457200" y="3200400"/>
            <a:ext cx="256032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7" name="Text 2"/>
          <p:cNvSpPr/>
          <p:nvPr/>
        </p:nvSpPr>
        <p:spPr>
          <a:xfrm>
            <a:off x="457200" y="3291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Occupancy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 of 18 units)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291840" y="3200400"/>
            <a:ext cx="256032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10" name="Text 5"/>
          <p:cNvSpPr/>
          <p:nvPr/>
        </p:nvSpPr>
        <p:spPr>
          <a:xfrm>
            <a:off x="3291840" y="3291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$16,800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Rent Upside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(market rate adjustment)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126480" y="3200400"/>
            <a:ext cx="256032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13" name="Text 8"/>
          <p:cNvSpPr/>
          <p:nvPr/>
        </p:nvSpPr>
        <p:spPr>
          <a:xfrm>
            <a:off x="6126480" y="3291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$1.38/SF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Rent per SF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(market: $1.58/SF)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(T-12)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Stabilized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Revenue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$258,000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$292,860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Expenses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($123,750)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($118,839)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NOI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$134,250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$174,021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Expense Ratio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47.9%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40.6%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Cap Rate (at $1.95M)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6.88%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8.92%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DSCR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1.82x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2.36x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(T-12)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Stabilized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1005840"/>
            <a:ext cx="2286000" cy="1280160"/>
          </a:xfrm>
          <a:prstGeom prst="rect">
            <a:avLst>
              <a:gd name="adj" fmla="val 7143"/>
            </a:avLst>
          </a:prstGeom>
          <a:solidFill>
            <a:srgbClr val="1E3A5F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$134,250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NOI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400800" y="2468880"/>
            <a:ext cx="2286000" cy="1280160"/>
          </a:xfrm>
          <a:prstGeom prst="rect">
            <a:avLst>
              <a:gd name="adj" fmla="val 7143"/>
            </a:avLst>
          </a:prstGeom>
          <a:solidFill>
            <a:srgbClr val="0D7377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0" y="2560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$174,021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Stabilized NOI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COMPARABLES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914400"/>
                <a:gridCol w="7315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$/Mo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$/SF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Palm Bay Gardens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1BR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$1,225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$1.73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Renovated 2023, pool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Melbourne Pointe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1BR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$1,195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$1.66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Central Melbourne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Malabar Crossing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2BR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$1,475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$1.64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New construction 2024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Heritage Park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2BR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$1,425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$1.58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Palm Bay, updated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Bayview Terrace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3BR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$1,795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$1.55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Melbourne, waterfront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Subject (Market)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Avg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$1,408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$1.58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Upside verified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914400"/>
                <a:gridCol w="73152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$/Mo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$/SF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EXPENDITURE PLAN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3716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Roof Replacement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$50,000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3-5 Years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HVAC (3 Units)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$13,500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Water Heaters (6)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$4,800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1-2 Years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Stucco Repair Bldg 2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$8,000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Year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 103 Turn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Listing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 207 Turn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Listing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Parking Lot Reseal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Year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$87,300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132320" y="1005840"/>
            <a:ext cx="1645920" cy="1280160"/>
          </a:xfrm>
          <a:prstGeom prst="rect">
            <a:avLst>
              <a:gd name="adj" fmla="val 7143"/>
            </a:avLst>
          </a:prstGeom>
          <a:solidFill>
            <a:srgbClr val="1E3A5F"/>
          </a:solidFill>
          <a:ln/>
        </p:spPr>
      </p:sp>
      <p:sp>
        <p:nvSpPr>
          <p:cNvPr id="6" name="Text 2"/>
          <p:cNvSpPr/>
          <p:nvPr/>
        </p:nvSpPr>
        <p:spPr>
          <a:xfrm>
            <a:off x="713232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$87,300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13232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CapEx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DEMOGRAPHICS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(Palm Bay)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124,000+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HH Income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Growth (YoY)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Unemployment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Growth (5yr)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Employers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L3Harris, Northrop Grumman, Health 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Proximity to I-95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 miles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Proximity to Melbourne Airport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miles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005840"/>
            <a:ext cx="3657600" cy="3657600"/>
          </a:xfrm>
          <a:prstGeom prst="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BREVARD COUNTY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COAST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0352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Drivers: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 &amp; Defense Hub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Kennedy Space Center / SpaceX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Sector Expansion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&amp; Cruise Industry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State Income Tax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PRO FORMA PROJECTIONS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Gross Potential Rent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$290,460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$299,174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$308,149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Vacancy Loss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(32,241)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(14,959)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(15,407)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Other Income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$9,000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$9,270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$9,548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 Revenue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$267,219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$293,485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$302,290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Expenses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($118,839)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($121,216)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($123,640)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NOI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$148,380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$172,269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$178,650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Capital Expenditures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($87,300)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($10,000)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($10,000)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Debt Service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($73,800)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($73,800)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($73,800)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Cash Flow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($12,720)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$88,469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$94,850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 3% annual rent growth, 2% expense growth, vacancy stabilizes to 5% by Year 2, 8% management fee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Property360 Real Estate | Confidential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73152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TERMS &amp;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Asking 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$1,950,000 ($108,333/unit)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Earnest Money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 (hard after 15-day inspection)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 Period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business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Financing Contingency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Closing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days from 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 Exchange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Buyer/Seller cooperative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C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Mariam Shapira | Property360 Real Estate | (321) 555-0360 | mariam@property360.com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 Bay Palms Apartments - Offering Memorandum</dc:title>
  <dc:subject>PptxGenJS Presentation</dc:subject>
  <dc:creator>Property360 Real Estate</dc:creator>
  <cp:lastModifiedBy>Property360 Real Estate</cp:lastModifiedBy>
  <cp:revision>1</cp:revision>
  <dcterms:created xsi:type="dcterms:W3CDTF">2026-02-25T23:23:03Z</dcterms:created>
  <dcterms:modified xsi:type="dcterms:W3CDTF">2026-02-25T23:23:03Z</dcterms:modified>
</cp:coreProperties>
</file>